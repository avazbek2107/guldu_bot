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TEXNIK YORDAM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2A541"/>
                </a:solidFill>
                <a:latin typeface="Calibri"/>
              </a:rPr>
              <a:t>Telegram Bot + Web Admin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C9D8E6"/>
                </a:solidFill>
                <a:latin typeface="Calibri"/>
              </a:rPr>
              <a:t>Guliston Davlat Universiteti — MVP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Muammo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Nima uchun bu tizim kerak?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Texnik nosozliklar (kompyuter, tarmoq, proyektor, elektr) haqidagi murojaatlar tartibsiz — asosan og'zaki yoki telefon orqali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Ariza kim tomonidan, qachon qabul qilingani va qachon hal bo'lgani hech qayerda qayd etilmaydi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Qaysi texnik xodim qanchalik samarali ishlayotgani, qancha ariza bajarganini baholab bo'lmaydi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Shoshilinch va oddiy murojaatlar bir xil tartibda ko'rib chiqiladi — muhim nosozliklar kechikishi mumkin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86A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Rahbariyat uchun umumiy statistika, hisobot va nazorat vositasi mavjud 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Yechim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Raqamlashtirilgan, markazlashgan texnik yordam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Telegram bot orqali ariza yaratish — foydalanuvchi uchun tanish va qulay interfeys, qo'shimcha ilova o'rnatish shart emas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Har bir fakultetga biriktirilgan texnik xodimlarga arizalarning avtomatik yo'naltirilishi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SLA (javob berish muddati) kuzatuvi va avtomatik eskalatsiya — shoshilinch arizalar e'tibordan chetda qolmaydi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Web admin panel orqali rahbariyat uchun to'liq statistika va Excel/PDF hisobotlar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 b="1">
                <a:solidFill>
                  <a:srgbClr val="2EA06B"/>
                </a:solidFill>
                <a:latin typeface="Calibri"/>
              </a:rPr>
              <a:t>▸  </a:t>
            </a:r>
            <a:r>
              <a:rPr sz="1900">
                <a:solidFill>
                  <a:srgbClr val="222B38"/>
                </a:solidFill>
                <a:latin typeface="Calibri"/>
              </a:rPr>
              <a:t>Xizmatdan foydalangan har bir shaxs baho beradi — texnik xodimlar sifatini nazorat qilish imkoniyati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Foydalanuvchi rollari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Tizimdagi 4 ta asosiy 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606040" cy="3291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2606040" cy="109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222B38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83E"/>
                </a:solidFill>
                <a:latin typeface="Calibri"/>
              </a:rPr>
              <a:t>Xodim / Talaba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59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Ariza yaratadi, holatini kuzatadi,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xizmatni baholaydi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20240"/>
            <a:ext cx="2606040" cy="3291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920240"/>
            <a:ext cx="2606040" cy="109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222B38"/>
                </a:solidFill>
                <a:latin typeface="Calibri"/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83E"/>
                </a:solidFill>
                <a:latin typeface="Calibri"/>
              </a:rPr>
              <a:t>Texnik xodim (asosiy)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94759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O'z fakultetiga tushgan arizalarni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birinchi bo'lib qabul qiladi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20240"/>
            <a:ext cx="2606040" cy="3291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920240"/>
            <a:ext cx="2606040" cy="109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222B38"/>
                </a:solidFill>
                <a:latin typeface="Calibri"/>
              </a:rPr>
              <a:t>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83E"/>
                </a:solidFill>
                <a:latin typeface="Calibri"/>
              </a:rPr>
              <a:t>Texnik xodim (zaxira)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59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SLA muddati o'tib ketsa,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avtomatik xabar oladi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920240"/>
            <a:ext cx="2606040" cy="329184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920240"/>
            <a:ext cx="2606040" cy="109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 i="0">
                <a:solidFill>
                  <a:srgbClr val="222B38"/>
                </a:solidFill>
                <a:latin typeface="Calibri"/>
              </a:rPr>
              <a:t>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4283E"/>
                </a:solidFill>
                <a:latin typeface="Calibri"/>
              </a:rPr>
              <a:t>Super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94759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Fakultet/foydalanuvchilarni boshqaradi,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677"/>
                </a:solidFill>
                <a:latin typeface="Calibri"/>
              </a:rPr>
              <a:t>umumiy statistikani ko'radi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MVP — Telegram bot imkoniyatlari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Telefon raqami orqali ro'yxatdan o'tish / mavjud hisobni avtomatik bog'lash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Ariza yaratish: toifa, muhimlik darajasi, tavsif, rasm/video biriktirish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Texnik xodimga real vaqtda bildirishnoma va bitta tugma bilan qabul qilish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Arizani yopish, qayta yo'naltirish, “shubhali chaqiruv” deb belgilash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Yopilgan ariza uchun mijozdan yulduzcha baho va izoh so'rash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SLA muddati o'tsa — zaxira texnik xodimlarga avtomatik eskalatsiya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MVP — Web admin panel imkoniyatlari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JWT autentifikatsiya va rolga asoslangan kirish nazorati (RBAC)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Barcha arizalarni ko'rish va filtrlash (fakultet, holat, toifa bo'yicha)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Arizani yopish / qayta yo'naltirish — veb interfeys orqali ham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Har bir ariza uchun PDF ma'lumotnoma generatsiyasi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Umumiy statistika: ochiq/jarayondagi/yopiq arizalar, texnik xodim samaradorligi, kunlik trend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Bildirishnomalar ro'yxatini Excel yoki PDF formatida eksport qilish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700" b="1">
                <a:solidFill>
                  <a:srgbClr val="2E86AB"/>
                </a:solidFill>
                <a:latin typeface="Calibri"/>
              </a:rPr>
              <a:t>▸  </a:t>
            </a:r>
            <a:r>
              <a:rPr sz="1700">
                <a:solidFill>
                  <a:srgbClr val="222B38"/>
                </a:solidFill>
                <a:latin typeface="Calibri"/>
              </a:rPr>
              <a:t>Fakultet va foydalanuvchi/texnik xodimlarni boshqarish (Super Admin uchun)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Ariza jarayoni oqimi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Foydalanuvchidan yopilishigacha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600200" cy="9601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Ariza
yaratiladi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.0" y="2583180.0"/>
            <a:ext cx="335219.0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2619" y="2103120"/>
            <a:ext cx="1600200" cy="960120"/>
          </a:xfrm>
          <a:prstGeom prst="round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Fakultet texnik
xodimiga yo'naladi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92819.0" y="2583180.0"/>
            <a:ext cx="335219.0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28038" y="2103120"/>
            <a:ext cx="1600200" cy="9601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Qabul
qilinadi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28238.0" y="2583180.0"/>
            <a:ext cx="335219.0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457" y="2103120"/>
            <a:ext cx="1600200" cy="960120"/>
          </a:xfrm>
          <a:prstGeom prst="round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Bajariladi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657.0" y="2583180.0"/>
            <a:ext cx="335219.0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8876" y="2103120"/>
            <a:ext cx="1600200" cy="9601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Yopiladi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99076.0" y="2583180.0"/>
            <a:ext cx="335219.0" cy="0.0"/>
          </a:xfrm>
          <a:prstGeom prst="line">
            <a:avLst/>
          </a:prstGeom>
          <a:ln w="25400">
            <a:solidFill>
              <a:srgbClr val="5B66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34295" y="2103120"/>
            <a:ext cx="1600200" cy="96012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4283E"/>
                </a:solidFill>
                <a:latin typeface="Calibri"/>
              </a:rPr>
              <a:t>Baholanadi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19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A2E"/>
                </a:solidFill>
                <a:latin typeface="Calibri"/>
              </a:rPr>
              <a:t>Agar SLA muddati o'tsa: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92619" y="4069079"/>
            <a:ext cx="1600200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B03A2E"/>
                </a:solidFill>
                <a:latin typeface="Calibri"/>
              </a:rPr>
              <a:t>Zaxira texnikka
eskalatsiya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92719.0" y="3063240"/>
            <a:ext cx="0.0" cy="1005839"/>
          </a:xfrm>
          <a:prstGeom prst="line">
            <a:avLst/>
          </a:prstGeom>
          <a:ln w="28575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457" y="4069079"/>
            <a:ext cx="1600200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B03A2E"/>
                </a:solidFill>
                <a:latin typeface="Calibri"/>
              </a:rPr>
              <a:t>Super Adminga
ogohlantirish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92819.0" y="4549139.0"/>
            <a:ext cx="2270638.0" cy="0.0"/>
          </a:xfrm>
          <a:prstGeom prst="line">
            <a:avLst/>
          </a:prstGeom>
          <a:ln w="28575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623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677"/>
                </a:solidFill>
                <a:latin typeface="Calibri"/>
              </a:rPr>
              <a:t>Har bir bosqichda ishtirokchilarga Telegram orqali avtomatik bildirishnoma yuboriladi.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Texnik arxitektura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Tizim komponentlari va o'zaro bog'liqligi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329184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4283E"/>
                </a:solidFill>
                <a:latin typeface="Calibri"/>
              </a:rPr>
              <a:t>Telegram Bot</a:t>
            </a:r>
          </a:p>
          <a:p>
            <a:pPr algn="ctr"/>
            <a:r>
              <a:rPr sz="1100">
                <a:solidFill>
                  <a:srgbClr val="5B6677"/>
                </a:solidFill>
                <a:latin typeface="Calibri"/>
              </a:rPr>
              <a:t>Aiogram 3.x (Python)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54480"/>
            <a:ext cx="329184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4283E"/>
                </a:solidFill>
                <a:latin typeface="Calibri"/>
              </a:rPr>
              <a:t>Web Admin Panel</a:t>
            </a:r>
          </a:p>
          <a:p>
            <a:pPr algn="ctr"/>
            <a:r>
              <a:rPr sz="1100">
                <a:solidFill>
                  <a:srgbClr val="5B6677"/>
                </a:solidFill>
                <a:latin typeface="Calibri"/>
              </a:rPr>
              <a:t>React + TypeScript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971800"/>
            <a:ext cx="4114800" cy="1051560"/>
          </a:xfrm>
          <a:prstGeom prst="roundRect">
            <a:avLst/>
          </a:prstGeom>
          <a:solidFill>
            <a:srgbClr val="14283E"/>
          </a:solidFill>
          <a:ln w="19050">
            <a:solidFill>
              <a:srgbClr val="142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Backend API</a:t>
            </a:r>
          </a:p>
          <a:p>
            <a:pPr algn="ctr"/>
            <a:r>
              <a:rPr sz="1100">
                <a:solidFill>
                  <a:srgbClr val="C9D8E6"/>
                </a:solidFill>
                <a:latin typeface="Calibri"/>
              </a:rPr>
              <a:t>FastAPI — JWT autentifikatsiya,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480560"/>
            <a:ext cx="310896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4283E"/>
                </a:solidFill>
                <a:latin typeface="Calibri"/>
              </a:rPr>
              <a:t>PostgreSQL 17</a:t>
            </a:r>
          </a:p>
          <a:p>
            <a:pPr algn="ctr"/>
            <a:r>
              <a:rPr sz="1100">
                <a:solidFill>
                  <a:srgbClr val="5B6677"/>
                </a:solidFill>
                <a:latin typeface="Calibri"/>
              </a:rPr>
              <a:t>Ma'lumotlar bazasi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480560"/>
            <a:ext cx="3108960" cy="914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4283E"/>
                </a:solidFill>
                <a:latin typeface="Calibri"/>
              </a:rPr>
              <a:t>Fayl xotira (Storage)</a:t>
            </a:r>
          </a:p>
          <a:p>
            <a:pPr algn="ctr"/>
            <a:r>
              <a:rPr sz="1100">
                <a:solidFill>
                  <a:srgbClr val="5B6677"/>
                </a:solidFill>
                <a:latin typeface="Calibri"/>
              </a:rPr>
              <a:t>Rasm/video ilovalar, 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560320"/>
            <a:ext cx="2468880" cy="41148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32320" y="2560320"/>
            <a:ext cx="2468879" cy="41148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297680" y="4023360"/>
            <a:ext cx="1097280" cy="45720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4023360"/>
            <a:ext cx="1097280" cy="457200"/>
          </a:xfrm>
          <a:prstGeom prst="line">
            <a:avLst/>
          </a:prstGeom>
          <a:ln w="28575">
            <a:solidFill>
              <a:srgbClr val="2E8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5623560"/>
            <a:ext cx="11064240" cy="685800"/>
          </a:xfrm>
          <a:prstGeom prst="roundRect">
            <a:avLst/>
          </a:prstGeom>
          <a:solidFill>
            <a:srgbClr val="F5F7FA"/>
          </a:solidFill>
          <a:ln w="15875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83E"/>
                </a:solidFill>
                <a:latin typeface="Calibri"/>
              </a:rPr>
              <a:t>Barcha komponentlar Docker Compose orqali konteynerlashtirilgan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Texnologiyalar to'plami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697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Python 3.12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FastAPI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SQLAlchemy (async)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Alembic (migratsiyalar)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PostgreSQL 17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JWT + bcrypt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697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904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0312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Python 3.12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Aiogram 3.x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Asyncio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FSM (holat mashinasi)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697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904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React 18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TypeScript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Vite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Ant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697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49047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Infratuzilma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03120"/>
            <a:ext cx="2606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Docker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Docker Compose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Health-check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4283E"/>
                </a:solidFill>
                <a:latin typeface="Calibri"/>
              </a:rPr>
              <a:t>▸  </a:t>
            </a:r>
            <a:r>
              <a:rPr sz="1350">
                <a:solidFill>
                  <a:srgbClr val="222B38"/>
                </a:solidFill>
                <a:latin typeface="Calibri"/>
              </a:rPr>
              <a:t>Auto-restart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Xavfsizlik va sifat choralari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Parollar bcrypt bilan xeshlanadi, kirish JWT token orqali amalga oshiriladi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Rolga asoslangan kirish nazorati (RBAC) — har bir fakultet faqat o'z arizalarini ko'radi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Race-condition himoyasi — bir vaqtning o'zida ikki texnik xodim bitta arizani qabul qila olmaydi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SQL-injection'dan himoyalangan parametrlashtirilgan ORM so'rovlari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Production muhiti uchun majburiy tekshiruvlar (JWT kaliti standart qiymatda qolishi taqiqlanadi)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EA06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To'liq xavfsizlik auditi o'tkazildi va aniqlangan zaifliklar bartaraf etildi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Joylashtirish (Deployment)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To'liq Docker Compose orqali: PostgreSQL + Backend + Telegram bot bitta buyruq bilan ishga tushadi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Har bir xizmat uchun avtomatik qayta ishga tushirish (restart: unless-stopped)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Backend uchun HEALTHCHECK — xizmat holati doimiy nazoratda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Alembic orqali bazaviy sxema versiyalanadi va boshqariladi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2E86AB"/>
                </a:solidFill>
                <a:latin typeface="Calibri"/>
              </a:rPr>
              <a:t>▸  </a:t>
            </a:r>
            <a:r>
              <a:rPr sz="1800">
                <a:solidFill>
                  <a:srgbClr val="222B38"/>
                </a:solidFill>
                <a:latin typeface="Calibri"/>
              </a:rPr>
              <a:t>Yuklangan fayllar (rasm/video/PDF) uchun alohida saqlash katalogi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Joriy holat va keyingi bosqichlar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A06B"/>
                </a:solidFill>
                <a:latin typeface="Calibri"/>
              </a:rPr>
              <a:t>✅ Bajarilgan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Backend + PostgreSQL modellari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Auth / RBAC (JWT)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Telegram bot — asosiy oqim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PDF ma'lumotnoma shabloni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Ticket/Stats API + React admin panel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Excel/PDF eksport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2EA06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Xavfsizlik auditi va tuzatishlar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A541"/>
                </a:solidFill>
                <a:latin typeface="Calibri"/>
              </a:rPr>
              <a:t>🔜 Keyingi qadamlar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F2A541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Real foydalanuvchilar bilan pilot sinov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F2A541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Kengaytirilgan statistik tahlil va dashboard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F2A541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Bildirishnoma shablonlarini yaxshilash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F2A541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Mobil qulaylikni oshirish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Texnik Yordam Tizimi — MVP taqdimoti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2A541"/>
                </a:solidFill>
                <a:latin typeface="Calibri"/>
              </a:rPr>
              <a:t>Savollaringizni kutamiz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9D8E6"/>
                </a:solidFill>
                <a:latin typeface="Calibri"/>
              </a:rPr>
              <a:t>Guliston Davlat Universiteti — Texnik Yordam Tizimi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