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TEXNIK YORDAM TIZIMI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F2A541"/>
                </a:solidFill>
                <a:latin typeface="Calibri"/>
              </a:rPr>
              <a:t>Telegram Bot + Web Admin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 i="0">
                <a:solidFill>
                  <a:srgbClr val="C9D8E6"/>
                </a:solidFill>
                <a:latin typeface="Calibri"/>
              </a:rPr>
              <a:t>Guliston Davlat Universiteti — MVP taqdimoti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8507" y="5074920"/>
            <a:ext cx="548640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41951" y="5239512"/>
            <a:ext cx="301752" cy="2194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87187" y="5074920"/>
            <a:ext cx="548640" cy="54864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5524347" y="5212080"/>
            <a:ext cx="274320" cy="274320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5867" y="5074920"/>
            <a:ext cx="548640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n 10"/>
          <p:cNvSpPr/>
          <p:nvPr/>
        </p:nvSpPr>
        <p:spPr>
          <a:xfrm>
            <a:off x="6420459" y="5212080"/>
            <a:ext cx="219456" cy="274320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24547" y="5074920"/>
            <a:ext cx="548640" cy="54864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44003" y="51956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7254849" y="5283403"/>
            <a:ext cx="288036" cy="13716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Muammo → Yechim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03A2E"/>
                </a:solidFill>
                <a:latin typeface="Calibri"/>
              </a:rPr>
              <a:t>MUAMMO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280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A06B"/>
                </a:solidFill>
                <a:latin typeface="Calibri"/>
              </a:rPr>
              <a:t>YECHIM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371600"/>
            <a:ext cx="19050" cy="484632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4434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Og'zaki / telefon orqali murojaat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87451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6AB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745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874519"/>
            <a:ext cx="4663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Telegram bot orqali raqamli ariza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889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788919"/>
            <a:ext cx="4434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Qayd va tarix yuritilmaydi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78891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6AB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889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788919"/>
            <a:ext cx="4663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Har bir ariza to'liq tarix bilan saqlanadi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033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03319"/>
            <a:ext cx="4434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Shoshilinch/oddiy farqlanmaydi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370331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6AB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7033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19"/>
            <a:ext cx="4663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SLA muddati + avtomatik eskalatsiya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177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617719"/>
            <a:ext cx="4434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Xodim samaradorligi noma'lum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461771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6AB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6177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19"/>
            <a:ext cx="4663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Baholash tizimi + xodim statistikasi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5321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B03A2E"/>
                </a:solidFill>
                <a:latin typeface="Calibr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32119"/>
            <a:ext cx="4434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Rahbariyat uchun hisobot yo'q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53211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86AB"/>
                </a:solidFill>
                <a:latin typeface="Calibri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32119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532119"/>
            <a:ext cx="4663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22B38"/>
                </a:solidFill>
                <a:latin typeface="Calibri"/>
              </a:rPr>
              <a:t>Dashboard + Excel/PDF eksport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Foydalanuvchi rollari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606040" cy="35661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00200"/>
            <a:ext cx="2606040" cy="914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85900" y="2011680"/>
            <a:ext cx="822960" cy="82296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15084" y="2192731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1681353" y="2324404"/>
            <a:ext cx="432054" cy="20574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83E"/>
                </a:solidFill>
                <a:latin typeface="Calibri"/>
              </a:rPr>
              <a:t>Xodim / Talaba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Ariza yaratadi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va baholaydi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600200"/>
            <a:ext cx="2606040" cy="35661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1600200"/>
            <a:ext cx="2606040" cy="9144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540" y="2011680"/>
            <a:ext cx="822960" cy="82296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Gear 6 14"/>
          <p:cNvSpPr/>
          <p:nvPr/>
        </p:nvSpPr>
        <p:spPr>
          <a:xfrm>
            <a:off x="4526280" y="2217420"/>
            <a:ext cx="411480" cy="41148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30632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83E"/>
                </a:solidFill>
                <a:latin typeface="Calibri"/>
              </a:rPr>
              <a:t>Texnik (asosiy)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56616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Birinchi bo'lib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qabul qiladi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600200"/>
            <a:ext cx="2606040" cy="35661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600200"/>
            <a:ext cx="2606040" cy="91440"/>
          </a:xfrm>
          <a:prstGeom prst="rect">
            <a:avLst/>
          </a:prstGeom>
          <a:solidFill>
            <a:srgbClr val="4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55180" y="2011680"/>
            <a:ext cx="822960" cy="822960"/>
          </a:xfrm>
          <a:prstGeom prst="roundRect">
            <a:avLst/>
          </a:prstGeom>
          <a:solidFill>
            <a:srgbClr val="4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Gear 9 20"/>
          <p:cNvSpPr/>
          <p:nvPr/>
        </p:nvSpPr>
        <p:spPr>
          <a:xfrm>
            <a:off x="7360920" y="2217420"/>
            <a:ext cx="411480" cy="411480"/>
          </a:xfrm>
          <a:prstGeom prst="gear9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632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83E"/>
                </a:solidFill>
                <a:latin typeface="Calibri"/>
              </a:rPr>
              <a:t>Texnik (zaxira)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56616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SLA o'tsa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ishga tushadi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1600200"/>
            <a:ext cx="2606040" cy="35661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98280" y="1600200"/>
            <a:ext cx="2606040" cy="9144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89820" y="2011680"/>
            <a:ext cx="822960" cy="82296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entagon 26"/>
          <p:cNvSpPr/>
          <p:nvPr/>
        </p:nvSpPr>
        <p:spPr>
          <a:xfrm>
            <a:off x="10195560" y="2217420"/>
            <a:ext cx="411480" cy="411480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3063240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83E"/>
                </a:solidFill>
                <a:latin typeface="Calibri"/>
              </a:rPr>
              <a:t>Super Admin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566160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To'liq boshqaruv</a:t>
            </a:r>
          </a:p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5B6677"/>
                </a:solidFill>
                <a:latin typeface="Calibri"/>
              </a:rPr>
              <a:t>va statistika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MVP imkoniyatlari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6AB"/>
                </a:solidFill>
                <a:latin typeface="Calibri"/>
              </a:rPr>
              <a:t>TELEGRAM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325880"/>
            <a:ext cx="19050" cy="493776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3444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4283E"/>
                </a:solidFill>
                <a:latin typeface="Calibri"/>
              </a:rPr>
              <a:t>ADMIN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88366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611505" y="1956816"/>
            <a:ext cx="240030" cy="11430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178308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Ro'yxatdan o'tish (telefon)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32888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olded Corner 12"/>
          <p:cNvSpPr/>
          <p:nvPr/>
        </p:nvSpPr>
        <p:spPr>
          <a:xfrm>
            <a:off x="642366" y="2647188"/>
            <a:ext cx="178308" cy="228600"/>
          </a:xfrm>
          <a:prstGeom prst="foldedCorner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2532888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Ariza + rasm/video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82696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ear 6 15"/>
          <p:cNvSpPr/>
          <p:nvPr/>
        </p:nvSpPr>
        <p:spPr>
          <a:xfrm>
            <a:off x="617220" y="3396996"/>
            <a:ext cx="228600" cy="228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3282696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Fakultet bo'yicha avto-yo'naltirish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32504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redefined Process 18"/>
          <p:cNvSpPr/>
          <p:nvPr/>
        </p:nvSpPr>
        <p:spPr>
          <a:xfrm>
            <a:off x="617220" y="4146804"/>
            <a:ext cx="228600" cy="228600"/>
          </a:xfrm>
          <a:prstGeom prst="flowChartPredefinedProcess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032504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Qabul / Yopish / Yo'naltirish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82312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ctagon 21"/>
          <p:cNvSpPr/>
          <p:nvPr/>
        </p:nvSpPr>
        <p:spPr>
          <a:xfrm>
            <a:off x="617220" y="4896612"/>
            <a:ext cx="228600" cy="228600"/>
          </a:xfrm>
          <a:prstGeom prst="oct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" y="4782312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SLA nazorati + eskalatsiya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32120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5-Point Star 24"/>
          <p:cNvSpPr/>
          <p:nvPr/>
        </p:nvSpPr>
        <p:spPr>
          <a:xfrm>
            <a:off x="617220" y="5646420"/>
            <a:ext cx="228600" cy="228600"/>
          </a:xfrm>
          <a:prstGeom prst="star5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" y="553212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Xizmatni baholash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783080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entagon 27"/>
          <p:cNvSpPr/>
          <p:nvPr/>
        </p:nvSpPr>
        <p:spPr>
          <a:xfrm>
            <a:off x="6515100" y="1897380"/>
            <a:ext cx="228600" cy="228600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4304" y="178308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JWT autentifikatsiya + RBAC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532888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21958" y="2779776"/>
            <a:ext cx="50292" cy="960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4254" y="2720340"/>
            <a:ext cx="50292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86550" y="2658618"/>
            <a:ext cx="50292" cy="217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2532888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Dashboard va statistika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282696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olded Corner 35"/>
          <p:cNvSpPr/>
          <p:nvPr/>
        </p:nvSpPr>
        <p:spPr>
          <a:xfrm>
            <a:off x="6540246" y="3396996"/>
            <a:ext cx="178308" cy="228600"/>
          </a:xfrm>
          <a:prstGeom prst="foldedCorner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04304" y="3282696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PDF ma'lumotnoma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032504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edefined Process 38"/>
          <p:cNvSpPr/>
          <p:nvPr/>
        </p:nvSpPr>
        <p:spPr>
          <a:xfrm>
            <a:off x="6515100" y="4146804"/>
            <a:ext cx="228600" cy="228600"/>
          </a:xfrm>
          <a:prstGeom prst="flowChartPredefinedProcess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04304" y="4032504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Excel/PDF eksport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782312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83680" y="4882896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6509385" y="4956048"/>
            <a:ext cx="240030" cy="11430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04304" y="4782312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Xodimlar boshqaruvi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0" y="5532120"/>
            <a:ext cx="457200" cy="45720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an 45"/>
          <p:cNvSpPr/>
          <p:nvPr/>
        </p:nvSpPr>
        <p:spPr>
          <a:xfrm>
            <a:off x="6537960" y="5646420"/>
            <a:ext cx="182880" cy="228600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04304" y="553212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Fakultetlar boshqaruvi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Ariza jarayoni oqimi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8E6"/>
                </a:solidFill>
                <a:latin typeface="Calibri"/>
              </a:rPr>
              <a:t>Foydalanuvchidan yopilishigacha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1600200" cy="9601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Ariza
yaratiladi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.0" y="2583180.0"/>
            <a:ext cx="335219.0" cy="0.0"/>
          </a:xfrm>
          <a:prstGeom prst="line">
            <a:avLst/>
          </a:prstGeom>
          <a:ln w="25400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92619" y="2103120"/>
            <a:ext cx="1600200" cy="96012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Fakultet texnik
xodimiga yo'naladi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992819.0" y="2583180.0"/>
            <a:ext cx="335219.0" cy="0.0"/>
          </a:xfrm>
          <a:prstGeom prst="line">
            <a:avLst/>
          </a:prstGeom>
          <a:ln w="25400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28038" y="2103120"/>
            <a:ext cx="1600200" cy="9601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Qabul
qilinadi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8238.0" y="2583180.0"/>
            <a:ext cx="335219.0" cy="0.0"/>
          </a:xfrm>
          <a:prstGeom prst="line">
            <a:avLst/>
          </a:prstGeom>
          <a:ln w="25400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63457" y="2103120"/>
            <a:ext cx="1600200" cy="960120"/>
          </a:xfrm>
          <a:prstGeom prst="round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Bajariladi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657.0" y="2583180.0"/>
            <a:ext cx="335219.0" cy="0.0"/>
          </a:xfrm>
          <a:prstGeom prst="line">
            <a:avLst/>
          </a:prstGeom>
          <a:ln w="25400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98876" y="2103120"/>
            <a:ext cx="1600200" cy="9601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Yopiladi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99076.0" y="2583180.0"/>
            <a:ext cx="335219.0" cy="0.0"/>
          </a:xfrm>
          <a:prstGeom prst="line">
            <a:avLst/>
          </a:prstGeom>
          <a:ln w="25400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34295" y="2103120"/>
            <a:ext cx="1600200" cy="96012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4283E"/>
                </a:solidFill>
                <a:latin typeface="Calibri"/>
              </a:rPr>
              <a:t>Baholanadi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03319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03A2E"/>
                </a:solidFill>
                <a:latin typeface="Calibri"/>
              </a:rPr>
              <a:t>Agar SLA muddati o'tsa: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2619" y="4069079"/>
            <a:ext cx="1600200" cy="9601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B03A2E"/>
                </a:solidFill>
                <a:latin typeface="Calibri"/>
              </a:rPr>
              <a:t>Zaxira texnikka
eskalatsiya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2719.0" y="3063240"/>
            <a:ext cx="0.0" cy="1005839"/>
          </a:xfrm>
          <a:prstGeom prst="line">
            <a:avLst/>
          </a:prstGeom>
          <a:ln w="28575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63457" y="4069079"/>
            <a:ext cx="1600200" cy="960120"/>
          </a:xfrm>
          <a:prstGeom prst="roundRect">
            <a:avLst/>
          </a:prstGeom>
          <a:solidFill>
            <a:srgbClr val="FBE9E7"/>
          </a:solidFill>
          <a:ln w="1905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B03A2E"/>
                </a:solidFill>
                <a:latin typeface="Calibri"/>
              </a:rPr>
              <a:t>Super Adminga
ogohlantirish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92819.0" y="4549139.0"/>
            <a:ext cx="2270638.0" cy="0.0"/>
          </a:xfrm>
          <a:prstGeom prst="line">
            <a:avLst/>
          </a:prstGeom>
          <a:ln w="28575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" y="5623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5B6677"/>
                </a:solidFill>
                <a:latin typeface="Calibri"/>
              </a:rPr>
              <a:t>Har bosqichda ishtirokchilarga Telegram orqali avtomatik bildirishnoma yuboriladi.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Texnik arxitektura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8E6"/>
                </a:solidFill>
                <a:latin typeface="Calibri"/>
              </a:rPr>
              <a:t>Tizim komponentlari va o'zaro bog'liqligi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329184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4283E"/>
                </a:solidFill>
                <a:latin typeface="Calibri"/>
              </a:rPr>
              <a:t>Telegram Bot</a:t>
            </a:r>
          </a:p>
          <a:p>
            <a:pPr algn="ctr"/>
            <a:r>
              <a:rPr sz="1100">
                <a:solidFill>
                  <a:srgbClr val="5B6677"/>
                </a:solidFill>
                <a:latin typeface="Calibri"/>
              </a:rPr>
              <a:t>Aiogram 3.x (Python)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9164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4717" y="1842516"/>
            <a:ext cx="276606" cy="2011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554480"/>
            <a:ext cx="329184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14283E"/>
                </a:solidFill>
                <a:latin typeface="Calibri"/>
              </a:rPr>
              <a:t>Web Admin Panel</a:t>
            </a:r>
          </a:p>
          <a:p>
            <a:pPr algn="ctr"/>
            <a:r>
              <a:rPr sz="1100">
                <a:solidFill>
                  <a:srgbClr val="5B6677"/>
                </a:solidFill>
                <a:latin typeface="Calibri"/>
              </a:rPr>
              <a:t>React + TypeScript + Vite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69164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59568" y="1802282"/>
            <a:ext cx="100584" cy="100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10177843" y="1882749"/>
            <a:ext cx="264033" cy="12573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23360" y="2971800"/>
            <a:ext cx="4114800" cy="1051560"/>
          </a:xfrm>
          <a:prstGeom prst="roundRect">
            <a:avLst/>
          </a:prstGeom>
          <a:solidFill>
            <a:srgbClr val="14283E"/>
          </a:solidFill>
          <a:ln w="19050">
            <a:solidFill>
              <a:srgbClr val="142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Backend API</a:t>
            </a:r>
          </a:p>
          <a:p>
            <a:pPr algn="ctr"/>
            <a:r>
              <a:rPr sz="1100">
                <a:solidFill>
                  <a:srgbClr val="C9D8E6"/>
                </a:solidFill>
                <a:latin typeface="Calibri"/>
              </a:rPr>
              <a:t>FastAPI — JWT autentifikatsiya, RBAC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127248"/>
            <a:ext cx="502920" cy="502920"/>
          </a:xfrm>
          <a:prstGeom prst="round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4286250" y="3252978"/>
            <a:ext cx="251460" cy="251460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0" y="4480560"/>
            <a:ext cx="3108960" cy="9144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4283E"/>
                </a:solidFill>
                <a:latin typeface="Calibri"/>
              </a:rPr>
              <a:t>PostgreSQL 17</a:t>
            </a:r>
          </a:p>
          <a:p>
            <a:pPr algn="ctr"/>
            <a:r>
              <a:rPr sz="1100">
                <a:solidFill>
                  <a:srgbClr val="5B6677"/>
                </a:solidFill>
                <a:latin typeface="Calibri"/>
              </a:rPr>
              <a:t>Ma'lumotlar bazasi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4590288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n 17"/>
          <p:cNvSpPr/>
          <p:nvPr/>
        </p:nvSpPr>
        <p:spPr>
          <a:xfrm>
            <a:off x="3017520" y="4704588"/>
            <a:ext cx="182880" cy="228600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9360" y="4480560"/>
            <a:ext cx="3108960" cy="91440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2E86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14283E"/>
                </a:solidFill>
                <a:latin typeface="Calibri"/>
              </a:rPr>
              <a:t>Fayl xotira (Storage)</a:t>
            </a:r>
          </a:p>
          <a:p>
            <a:pPr algn="ctr"/>
            <a:r>
              <a:rPr sz="1100">
                <a:solidFill>
                  <a:srgbClr val="5B6677"/>
                </a:solidFill>
                <a:latin typeface="Calibri"/>
              </a:rPr>
              <a:t>Rasm/video ilovalar, PDF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4590288"/>
            <a:ext cx="457200" cy="45720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olded Corner 20"/>
          <p:cNvSpPr/>
          <p:nvPr/>
        </p:nvSpPr>
        <p:spPr>
          <a:xfrm>
            <a:off x="6585966" y="4704588"/>
            <a:ext cx="178308" cy="228600"/>
          </a:xfrm>
          <a:prstGeom prst="foldedCorner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560320" y="2560320"/>
            <a:ext cx="2468880" cy="411480"/>
          </a:xfrm>
          <a:prstGeom prst="line">
            <a:avLst/>
          </a:prstGeom>
          <a:ln w="28575">
            <a:solidFill>
              <a:srgbClr val="2E86A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32320" y="2560320"/>
            <a:ext cx="2468879" cy="411480"/>
          </a:xfrm>
          <a:prstGeom prst="line">
            <a:avLst/>
          </a:prstGeom>
          <a:ln w="28575">
            <a:solidFill>
              <a:srgbClr val="2E86A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4297680" y="4023360"/>
            <a:ext cx="1097280" cy="457200"/>
          </a:xfrm>
          <a:prstGeom prst="line">
            <a:avLst/>
          </a:prstGeom>
          <a:ln w="28575">
            <a:solidFill>
              <a:srgbClr val="2E86A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66560" y="4023360"/>
            <a:ext cx="1097280" cy="457200"/>
          </a:xfrm>
          <a:prstGeom prst="line">
            <a:avLst/>
          </a:prstGeom>
          <a:ln w="28575">
            <a:solidFill>
              <a:srgbClr val="2E86A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48640" y="5623560"/>
            <a:ext cx="11064240" cy="685800"/>
          </a:xfrm>
          <a:prstGeom prst="roundRect">
            <a:avLst/>
          </a:prstGeom>
          <a:solidFill>
            <a:srgbClr val="F5F7FA"/>
          </a:solidFill>
          <a:ln w="15875">
            <a:solidFill>
              <a:srgbClr val="F2A5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4283E"/>
                </a:solidFill>
                <a:latin typeface="Calibri"/>
              </a:rPr>
              <a:t>Docker Compose  •  Auto-restart  •  Health-check  •  Alembic migratsiya  •  Non-root konteyner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Texnologiyalar to'plami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exagon 5"/>
          <p:cNvSpPr/>
          <p:nvPr/>
        </p:nvSpPr>
        <p:spPr>
          <a:xfrm>
            <a:off x="720090" y="1497330"/>
            <a:ext cx="251460" cy="251460"/>
          </a:xfrm>
          <a:prstGeom prst="hex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1399032"/>
            <a:ext cx="2057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83E"/>
                </a:solidFill>
                <a:latin typeface="Calibri"/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Python 3.12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5117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53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SQLAlchemy (async)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55848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Alembic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58184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PostgreSQL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605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JWT + bcrypt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137160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7877" y="1522476"/>
            <a:ext cx="276606" cy="2011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399032"/>
            <a:ext cx="2057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83E"/>
                </a:solidFill>
                <a:latin typeface="Calibri"/>
              </a:rPr>
              <a:t>Telegram 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14884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Python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55117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Aiogram 3.x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953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Asyncio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355848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FSM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37160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56248" y="1482242"/>
            <a:ext cx="100584" cy="1005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474523" y="1562709"/>
            <a:ext cx="264033" cy="12573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1399032"/>
            <a:ext cx="2057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83E"/>
                </a:solidFill>
                <a:latin typeface="Calibri"/>
              </a:rPr>
              <a:t>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14884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React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55117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TypeScript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953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Vite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55848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Ant 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1371600"/>
            <a:ext cx="502920" cy="50292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edefined Process 29"/>
          <p:cNvSpPr/>
          <p:nvPr/>
        </p:nvSpPr>
        <p:spPr>
          <a:xfrm>
            <a:off x="9361170" y="1497330"/>
            <a:ext cx="251460" cy="251460"/>
          </a:xfrm>
          <a:prstGeom prst="flowChartPredefinedProcess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0" y="1399032"/>
            <a:ext cx="2057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283E"/>
                </a:solidFill>
                <a:latin typeface="Calibri"/>
              </a:rPr>
              <a:t>Infratuzilma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14884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Docker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551176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Docker Compose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953512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Health-check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355848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▸  Auto-restart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So'nggi yangilanishlar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8E6"/>
                </a:solidFill>
                <a:latin typeface="Calibri"/>
              </a:rPr>
              <a:t>Xavfsizlik auditi va yangi imkoniyatlar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B03A2E"/>
                </a:solidFill>
                <a:latin typeface="Calibri"/>
              </a:rPr>
              <a:t>XAVFSIZLIK TUZATILDI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371600"/>
            <a:ext cx="19050" cy="475488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A06B"/>
                </a:solidFill>
                <a:latin typeface="Calibri"/>
              </a:rPr>
              <a:t>YANGI IMKONIYATLAR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457200" cy="45720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ctagon 9"/>
          <p:cNvSpPr/>
          <p:nvPr/>
        </p:nvSpPr>
        <p:spPr>
          <a:xfrm>
            <a:off x="617220" y="1897380"/>
            <a:ext cx="228600" cy="228600"/>
          </a:xfrm>
          <a:prstGeom prst="octago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178308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Kritik: enum bog'lash xatosi tuzatildi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51760"/>
            <a:ext cx="457200" cy="45720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entagon 12"/>
          <p:cNvSpPr/>
          <p:nvPr/>
        </p:nvSpPr>
        <p:spPr>
          <a:xfrm>
            <a:off x="617220" y="2766060"/>
            <a:ext cx="228600" cy="228600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265176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JWT kaliti — production tekshiruvi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457200" cy="45720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Gear 6 15"/>
          <p:cNvSpPr/>
          <p:nvPr/>
        </p:nvSpPr>
        <p:spPr>
          <a:xfrm>
            <a:off x="617220" y="3634740"/>
            <a:ext cx="228600" cy="228600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6424" y="352044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Race-condition: ariza qabul qilish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457200" cy="45720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365" y="4606290"/>
            <a:ext cx="194310" cy="1417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nut 19"/>
          <p:cNvSpPr/>
          <p:nvPr/>
        </p:nvSpPr>
        <p:spPr>
          <a:xfrm>
            <a:off x="668655" y="4498848"/>
            <a:ext cx="125730" cy="125730"/>
          </a:xfrm>
          <a:prstGeom prst="donu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6424" y="438912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IDOR: callback ruxsat nazorati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57800"/>
            <a:ext cx="457200" cy="45720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5800" y="5358384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611505" y="5431536"/>
            <a:ext cx="240030" cy="114300"/>
          </a:xfrm>
          <a:prstGeom prst="round2Same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6424" y="525780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Telefon-linking bypass yopildi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83080"/>
            <a:ext cx="457200" cy="457200"/>
          </a:xfrm>
          <a:prstGeom prst="round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15100" y="1986534"/>
            <a:ext cx="228600" cy="502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04254" y="1897380"/>
            <a:ext cx="50292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4304" y="178308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Telegram ID — to'g'ridan-to'g'ri bog'lash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651760"/>
            <a:ext cx="457200" cy="457200"/>
          </a:xfrm>
          <a:prstGeom prst="round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21958" y="2898648"/>
            <a:ext cx="50292" cy="960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4254" y="2839212"/>
            <a:ext cx="50292" cy="1554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86550" y="2777490"/>
            <a:ext cx="50292" cy="217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265176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SLA: 'hozir ochiq' / 'jami' ko'rsatkich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457200" cy="457200"/>
          </a:xfrm>
          <a:prstGeom prst="round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an 35"/>
          <p:cNvSpPr/>
          <p:nvPr/>
        </p:nvSpPr>
        <p:spPr>
          <a:xfrm>
            <a:off x="6537960" y="3634740"/>
            <a:ext cx="182880" cy="228600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04304" y="352044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Tickets jadvali — tezlik indekslari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389120"/>
            <a:ext cx="457200" cy="457200"/>
          </a:xfrm>
          <a:prstGeom prst="round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edefined Process 38"/>
          <p:cNvSpPr/>
          <p:nvPr/>
        </p:nvSpPr>
        <p:spPr>
          <a:xfrm>
            <a:off x="6515100" y="4503420"/>
            <a:ext cx="228600" cy="228600"/>
          </a:xfrm>
          <a:prstGeom prst="flowChartPredefinedProcess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04304" y="438912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Docker: non-root + health-check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257800"/>
            <a:ext cx="457200" cy="457200"/>
          </a:xfrm>
          <a:prstGeom prst="round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olded Corner 41"/>
          <p:cNvSpPr/>
          <p:nvPr/>
        </p:nvSpPr>
        <p:spPr>
          <a:xfrm>
            <a:off x="6540246" y="5372100"/>
            <a:ext cx="178308" cy="228600"/>
          </a:xfrm>
          <a:prstGeom prst="foldedCorner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04304" y="5257800"/>
            <a:ext cx="474573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22B38"/>
                </a:solidFill>
                <a:latin typeface="Calibri"/>
              </a:rPr>
              <a:t>Parol/login validatsiyasi kuchaytirildi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Joriy holat va keyingi bosqichlar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A06B"/>
                </a:solidFill>
                <a:latin typeface="Calibri"/>
              </a:rPr>
              <a:t>BAJARILGAN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371600"/>
            <a:ext cx="19050" cy="4572000"/>
          </a:xfrm>
          <a:prstGeom prst="rect">
            <a:avLst/>
          </a:prstGeom>
          <a:solidFill>
            <a:srgbClr val="E3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2A541"/>
                </a:solidFill>
                <a:latin typeface="Calibri"/>
              </a:rPr>
              <a:t>KEYINGI QADAMLAR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Backend + PostgreSQL modellari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5000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Auth / RBAC (JWT)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16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Telegram bot — asosiy oqim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838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48386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PDF ma'lumotnoma shabloni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050792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Ticket/Stats API + admin panel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6177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Excel/PDF eksport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8464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A06B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Xavfsizlik auditi va tuzatishlar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830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A541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Real foydalanuvchilar bilan 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50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A541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35000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Kengaytirilgan statistik tahlil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9169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A541"/>
                </a:solidFill>
                <a:latin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16936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Bildirishnoma shablonlarini yaxshilash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4838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2A541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48386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22B38"/>
                </a:solidFill>
                <a:latin typeface="Calibri"/>
              </a:rPr>
              <a:t>Mobil qulaylikni oshirish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Texnik Yordam Tizimi — MVP taqdimoti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51052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Rahmat!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F2A541"/>
                </a:solidFill>
                <a:latin typeface="Calibri"/>
              </a:rPr>
              <a:t>Savollaringizni kutamiz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C9D8E6"/>
                </a:solidFill>
                <a:latin typeface="Calibri"/>
              </a:rPr>
              <a:t>Guliston Davlat Universiteti — Texnik Yordam Tizimi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